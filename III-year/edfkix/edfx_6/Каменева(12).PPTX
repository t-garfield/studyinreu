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9" r:id="rId5"/>
    <p:sldId id="266" r:id="rId6"/>
    <p:sldId id="265" r:id="rId7"/>
    <p:sldId id="269" r:id="rId8"/>
    <p:sldId id="268" r:id="rId9"/>
    <p:sldId id="258" r:id="rId10"/>
    <p:sldId id="264" r:id="rId11"/>
    <p:sldId id="263" r:id="rId12"/>
    <p:sldId id="262" r:id="rId13"/>
    <p:sldId id="260" r:id="rId14"/>
    <p:sldId id="26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712" autoAdjust="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outlineViewPr>
    <p:cViewPr>
      <p:scale>
        <a:sx n="33" d="100"/>
        <a:sy n="33" d="100"/>
      </p:scale>
      <p:origin x="0" y="-3030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6B5C-08EA-43C6-9255-3154D5924B56}" type="datetimeFigureOut">
              <a:rPr lang="ru-RU" smtClean="0"/>
              <a:t>17.09.2021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83A52-7F3B-4BFD-B17D-5EF9B26D19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387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6B5C-08EA-43C6-9255-3154D5924B56}" type="datetimeFigureOut">
              <a:rPr lang="ru-RU" smtClean="0"/>
              <a:t>17.09.2021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83A52-7F3B-4BFD-B17D-5EF9B26D19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531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6B5C-08EA-43C6-9255-3154D5924B56}" type="datetimeFigureOut">
              <a:rPr lang="ru-RU" smtClean="0"/>
              <a:t>17.09.2021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83A52-7F3B-4BFD-B17D-5EF9B26D19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487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6B5C-08EA-43C6-9255-3154D5924B56}" type="datetimeFigureOut">
              <a:rPr lang="ru-RU" smtClean="0"/>
              <a:t>17.09.2021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83A52-7F3B-4BFD-B17D-5EF9B26D19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246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6B5C-08EA-43C6-9255-3154D5924B56}" type="datetimeFigureOut">
              <a:rPr lang="ru-RU" smtClean="0"/>
              <a:t>17.09.2021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83A52-7F3B-4BFD-B17D-5EF9B26D19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286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6B5C-08EA-43C6-9255-3154D5924B56}" type="datetimeFigureOut">
              <a:rPr lang="ru-RU" smtClean="0"/>
              <a:t>17.09.2021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83A52-7F3B-4BFD-B17D-5EF9B26D19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825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6B5C-08EA-43C6-9255-3154D5924B56}" type="datetimeFigureOut">
              <a:rPr lang="ru-RU" smtClean="0"/>
              <a:t>17.09.2021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83A52-7F3B-4BFD-B17D-5EF9B26D19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509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6B5C-08EA-43C6-9255-3154D5924B56}" type="datetimeFigureOut">
              <a:rPr lang="ru-RU" smtClean="0"/>
              <a:t>17.09.2021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83A52-7F3B-4BFD-B17D-5EF9B26D19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1231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6B5C-08EA-43C6-9255-3154D5924B56}" type="datetimeFigureOut">
              <a:rPr lang="ru-RU" smtClean="0"/>
              <a:t>17.09.2021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83A52-7F3B-4BFD-B17D-5EF9B26D19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856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6B5C-08EA-43C6-9255-3154D5924B56}" type="datetimeFigureOut">
              <a:rPr lang="ru-RU" smtClean="0"/>
              <a:t>17.09.2021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83A52-7F3B-4BFD-B17D-5EF9B26D19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523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6B5C-08EA-43C6-9255-3154D5924B56}" type="datetimeFigureOut">
              <a:rPr lang="ru-RU" smtClean="0"/>
              <a:t>17.09.2021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83A52-7F3B-4BFD-B17D-5EF9B26D19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458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36B5C-08EA-43C6-9255-3154D5924B56}" type="datetimeFigureOut">
              <a:rPr lang="ru-RU" smtClean="0"/>
              <a:t>17.09.2021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83A52-7F3B-4BFD-B17D-5EF9B26D19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1801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Элективные дисциплины по физической культуре и спорту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Тема: 12 </a:t>
            </a:r>
            <a:r>
              <a:rPr lang="ru-RU" dirty="0"/>
              <a:t>Изменения в правилах волейбола в XXI веке</a:t>
            </a:r>
            <a:r>
              <a:rPr lang="ru-RU" dirty="0" smtClean="0"/>
              <a:t>.</a:t>
            </a:r>
          </a:p>
          <a:p>
            <a:r>
              <a:rPr lang="ru-RU" dirty="0"/>
              <a:t>РЭУ им. Г.В. Плеханова</a:t>
            </a:r>
          </a:p>
          <a:p>
            <a:pPr algn="r"/>
            <a:r>
              <a:rPr lang="ru-RU" dirty="0"/>
              <a:t>Подготовила : Каменева Кристина Сергеевна. Факультет </a:t>
            </a:r>
            <a:r>
              <a:rPr lang="ru-RU" dirty="0" err="1"/>
              <a:t>ИМИсиЦЭ</a:t>
            </a:r>
            <a:r>
              <a:rPr lang="ru-RU" dirty="0"/>
              <a:t>, курс 3, группа 15.11д-би10/19б</a:t>
            </a:r>
          </a:p>
        </p:txBody>
      </p:sp>
    </p:spTree>
    <p:extLst>
      <p:ext uri="{BB962C8B-B14F-4D97-AF65-F5344CB8AC3E}">
        <p14:creationId xmlns:p14="http://schemas.microsoft.com/office/powerpoint/2010/main" val="878043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2111502" y="111442"/>
            <a:ext cx="9144000" cy="75723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Содержание: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1500" y="868680"/>
            <a:ext cx="10986516" cy="5861304"/>
          </a:xfrm>
        </p:spPr>
        <p:txBody>
          <a:bodyPr numCol="2">
            <a:normAutofit fontScale="92500" lnSpcReduction="20000"/>
          </a:bodyPr>
          <a:lstStyle/>
          <a:p>
            <a:pPr marL="457200" indent="-457200" algn="l">
              <a:buAutoNum type="arabicPeriod"/>
            </a:pPr>
            <a:r>
              <a:rPr lang="ru-RU" dirty="0" smtClean="0"/>
              <a:t>О волейболе(3)</a:t>
            </a:r>
          </a:p>
          <a:p>
            <a:pPr marL="457200" indent="-457200" algn="l">
              <a:buAutoNum type="arabicPeriod"/>
            </a:pPr>
            <a:r>
              <a:rPr lang="ru-RU" dirty="0" smtClean="0"/>
              <a:t>Официальные правила 2017-2020(4)</a:t>
            </a:r>
          </a:p>
          <a:p>
            <a:pPr marL="457200" indent="-457200" algn="l">
              <a:buAutoNum type="arabicPeriod"/>
            </a:pPr>
            <a:r>
              <a:rPr lang="ru-RU" dirty="0" smtClean="0"/>
              <a:t>Официальные правила 2021-2024(Все что подчеркнуто является изменением или добавлением в предыдущих правилах):</a:t>
            </a:r>
          </a:p>
          <a:p>
            <a:pPr algn="l"/>
            <a:r>
              <a:rPr lang="ru-RU" dirty="0" smtClean="0"/>
              <a:t>-</a:t>
            </a:r>
            <a:r>
              <a:rPr lang="ru-RU" dirty="0" smtClean="0"/>
              <a:t>Место разминки(5)</a:t>
            </a:r>
          </a:p>
          <a:p>
            <a:pPr algn="l"/>
            <a:r>
              <a:rPr lang="ru-RU" dirty="0" smtClean="0"/>
              <a:t>-Структура(6)</a:t>
            </a:r>
          </a:p>
          <a:p>
            <a:pPr algn="l"/>
            <a:r>
              <a:rPr lang="ru-RU" dirty="0" smtClean="0"/>
              <a:t>-</a:t>
            </a:r>
            <a:r>
              <a:rPr lang="ru-RU" dirty="0"/>
              <a:t>З</a:t>
            </a:r>
            <a:r>
              <a:rPr lang="ru-RU" dirty="0" smtClean="0"/>
              <a:t>апрещенные предметы(7)</a:t>
            </a:r>
          </a:p>
          <a:p>
            <a:pPr algn="l"/>
            <a:r>
              <a:rPr lang="ru-RU" dirty="0" smtClean="0"/>
              <a:t>-</a:t>
            </a:r>
            <a:r>
              <a:rPr lang="ru-RU" dirty="0" smtClean="0"/>
              <a:t>РУКОВОДИТЕЛИ КОМАНДЫ(8)</a:t>
            </a:r>
          </a:p>
          <a:p>
            <a:pPr algn="l"/>
            <a:r>
              <a:rPr lang="ru-RU" dirty="0" smtClean="0"/>
              <a:t>-КАПИТАН (8)</a:t>
            </a:r>
          </a:p>
          <a:p>
            <a:pPr algn="l"/>
            <a:r>
              <a:rPr lang="ru-RU" dirty="0" smtClean="0"/>
              <a:t>-ТРЕНЕР(9)</a:t>
            </a:r>
          </a:p>
          <a:p>
            <a:pPr algn="l"/>
            <a:r>
              <a:rPr lang="ru-RU" dirty="0" smtClean="0"/>
              <a:t>-ОФИЦИАЛЬНАЯ РАЗМИНКА(10)</a:t>
            </a:r>
          </a:p>
          <a:p>
            <a:pPr algn="l"/>
            <a:r>
              <a:rPr lang="ru-RU" dirty="0" smtClean="0"/>
              <a:t>-Позиции(10)</a:t>
            </a:r>
          </a:p>
          <a:p>
            <a:pPr algn="l"/>
            <a:r>
              <a:rPr lang="ru-RU" dirty="0" smtClean="0"/>
              <a:t>-</a:t>
            </a:r>
            <a:r>
              <a:rPr lang="ru-RU" dirty="0" smtClean="0"/>
              <a:t>ИГРА С МЯЧОМ(11)</a:t>
            </a:r>
          </a:p>
          <a:p>
            <a:pPr algn="l"/>
            <a:r>
              <a:rPr lang="ru-RU" dirty="0" smtClean="0"/>
              <a:t>-ПРОНИКНОВЕНИЕ ПОД СЕТКОЙ (11)</a:t>
            </a:r>
          </a:p>
          <a:p>
            <a:pPr algn="l"/>
            <a:r>
              <a:rPr lang="ru-RU" dirty="0" smtClean="0"/>
              <a:t>-</a:t>
            </a:r>
            <a:r>
              <a:rPr lang="ru-RU" dirty="0" smtClean="0"/>
              <a:t>ЗАСЛОН(12)</a:t>
            </a:r>
          </a:p>
          <a:p>
            <a:pPr algn="l"/>
            <a:r>
              <a:rPr lang="ru-RU" dirty="0" smtClean="0"/>
              <a:t>-ПОСЛЕДОВАТЕЛЬНОСТЬ ОБЫЧНЫХ ИГРОВЫХ ПЕРЕРЫВОВ (13) </a:t>
            </a:r>
            <a:endParaRPr lang="ru-RU" u="sng" dirty="0" smtClean="0"/>
          </a:p>
          <a:p>
            <a:pPr algn="l"/>
            <a:r>
              <a:rPr lang="ru-RU" dirty="0" smtClean="0"/>
              <a:t>-ТАЙМ-АУТЫ(13) </a:t>
            </a:r>
          </a:p>
          <a:p>
            <a:pPr algn="l"/>
            <a:r>
              <a:rPr lang="ru-RU" dirty="0" smtClean="0"/>
              <a:t>-ЗАМЕНА ПРИ УДАЛЕНИИ ИЛИ ДИСКВАЛИФИКАЦИИ(13) </a:t>
            </a:r>
          </a:p>
          <a:p>
            <a:pPr algn="l"/>
            <a:r>
              <a:rPr lang="ru-RU" u="sng" dirty="0" smtClean="0"/>
              <a:t>4. Список источников (14)</a:t>
            </a:r>
            <a:endParaRPr lang="ru-RU" u="sng" dirty="0" smtClean="0"/>
          </a:p>
          <a:p>
            <a:pPr algn="l"/>
            <a:endParaRPr lang="ru-RU" dirty="0" smtClean="0"/>
          </a:p>
          <a:p>
            <a:pPr algn="l"/>
            <a:endParaRPr lang="ru-RU" dirty="0" smtClean="0"/>
          </a:p>
          <a:p>
            <a:pPr algn="l"/>
            <a:endParaRPr lang="ru-RU" dirty="0" smtClean="0"/>
          </a:p>
          <a:p>
            <a:pPr algn="l"/>
            <a:endParaRPr lang="ru-RU" dirty="0" smtClean="0"/>
          </a:p>
          <a:p>
            <a:pPr algn="l"/>
            <a:endParaRPr lang="ru-RU" dirty="0" smtClean="0"/>
          </a:p>
          <a:p>
            <a:pPr algn="l"/>
            <a:endParaRPr lang="ru-RU" dirty="0" smtClean="0"/>
          </a:p>
          <a:p>
            <a:pPr algn="l"/>
            <a:endParaRPr lang="ru-RU" dirty="0" smtClean="0"/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2363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978152" y="210311"/>
            <a:ext cx="9144000" cy="8582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 волейболе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8120" y="1068514"/>
            <a:ext cx="9144000" cy="165576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ru-RU" dirty="0" smtClean="0"/>
              <a:t>Соревнование высвобождает скрытые силы. Оно показывает наивысшие возможности, дух, творчество, красоту. Правила составлены с учетом всех этих качеств. С небольшими исключениями, волейбол позволяет всем игрокам действовать как у сетки (в атаке), так и на задней линии (в защите или на подаче).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943599" y="3014065"/>
            <a:ext cx="6119265" cy="163121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2000" dirty="0" smtClean="0"/>
              <a:t>Волейбол, однако, является уникальным среди сеточных игр, требуя, чтобы мяч был постоянно в полете – «летающий мяч», – и разрешая каждой команде определенное количество передач мяча до того, как он должен быть возвращен сопернику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713783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92024"/>
            <a:ext cx="9144000" cy="1500632"/>
          </a:xfrm>
        </p:spPr>
        <p:txBody>
          <a:bodyPr>
            <a:normAutofit/>
          </a:bodyPr>
          <a:lstStyle/>
          <a:p>
            <a:r>
              <a:rPr lang="ru-RU" sz="4400" dirty="0" smtClean="0"/>
              <a:t>ОФИЦИАЛЬНЫЕ ВОЛЕЙБОЛЬНЫЕ ПРАВИЛА 2017-2020</a:t>
            </a:r>
            <a:endParaRPr lang="ru-RU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44286" y="1922527"/>
            <a:ext cx="9144000" cy="3769145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ru-RU" sz="1800" dirty="0" smtClean="0"/>
              <a:t>Введение специализированного защитного игрока – Либеро – продвинуло игру вперед в отношении продолжительности розыгрыша и многофазной игры. </a:t>
            </a:r>
          </a:p>
          <a:p>
            <a:pPr algn="l">
              <a:lnSpc>
                <a:spcPct val="100000"/>
              </a:lnSpc>
            </a:pPr>
            <a:r>
              <a:rPr lang="ru-RU" sz="1800" dirty="0" smtClean="0"/>
              <a:t>Изменения правила подачи преобразовали подачу из простого действия ввода мяча в игру в наступательное оружие. Идея перехода закреплена для того, чтобы способствовать разносторонним атлетам. </a:t>
            </a:r>
          </a:p>
          <a:p>
            <a:pPr algn="l">
              <a:lnSpc>
                <a:spcPct val="100000"/>
              </a:lnSpc>
            </a:pPr>
            <a:r>
              <a:rPr lang="ru-RU" sz="1800" dirty="0" smtClean="0"/>
              <a:t>Правила расстановки игроков должны позволить командам быть гибкими и создавать интересные тактические разработки. Участники соревнований используют эти условия для состязания в технике, тактике и силе. </a:t>
            </a:r>
          </a:p>
          <a:p>
            <a:pPr algn="l">
              <a:lnSpc>
                <a:spcPct val="100000"/>
              </a:lnSpc>
            </a:pPr>
            <a:r>
              <a:rPr lang="ru-RU" sz="1800" dirty="0" smtClean="0"/>
              <a:t>Условия, также, позволяют игрокам свободу самовыражения к восторгу зрителей и телезрителей. </a:t>
            </a:r>
          </a:p>
          <a:p>
            <a:pPr algn="l">
              <a:lnSpc>
                <a:spcPct val="100000"/>
              </a:lnSpc>
            </a:pPr>
            <a:r>
              <a:rPr lang="ru-RU" sz="1800" dirty="0" smtClean="0"/>
              <a:t>И имидж волейбола становится все в большей степени привлекательным.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837623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230155" y="102636"/>
            <a:ext cx="9144000" cy="1410575"/>
          </a:xfrm>
        </p:spPr>
        <p:txBody>
          <a:bodyPr>
            <a:normAutofit/>
          </a:bodyPr>
          <a:lstStyle/>
          <a:p>
            <a:r>
              <a:rPr lang="ru-RU" sz="4400" dirty="0" smtClean="0"/>
              <a:t>ОФИЦИАЛЬНЫЕ ВОЛЕЙБОЛЬНЫЕ ПРАВИЛА 2021-2024 </a:t>
            </a:r>
            <a:endParaRPr lang="ru-RU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62712" y="1513210"/>
            <a:ext cx="9144000" cy="4951597"/>
          </a:xfrm>
        </p:spPr>
        <p:txBody>
          <a:bodyPr>
            <a:normAutofit/>
          </a:bodyPr>
          <a:lstStyle/>
          <a:p>
            <a:pPr algn="l"/>
            <a:r>
              <a:rPr lang="ru-RU" u="sng" dirty="0" smtClean="0"/>
              <a:t>Игровая площадка может быть из разных цветов, устанавливающих различие между передней зоной и задней зоной. </a:t>
            </a:r>
          </a:p>
          <a:p>
            <a:pPr algn="l"/>
            <a:r>
              <a:rPr lang="ru-RU" dirty="0" smtClean="0"/>
              <a:t>Место разминки</a:t>
            </a:r>
          </a:p>
          <a:p>
            <a:pPr algn="l"/>
            <a:r>
              <a:rPr lang="ru-RU" dirty="0" smtClean="0"/>
              <a:t> Для ФИВБ, Мировых и Официальных Соревнований места разминки, размером приблизительно 3 х 3 м, расположены за пределами свободной зоны в обоих углах на стороне скамеек команд, </a:t>
            </a:r>
            <a:r>
              <a:rPr lang="ru-RU" u="sng" dirty="0" smtClean="0"/>
              <a:t>где они не должны препятствовать обзору зрителей, или же позади скамейки команды, где трибуна начинается выше 2,5 м от поверхности площадки. </a:t>
            </a:r>
          </a:p>
          <a:p>
            <a:pPr algn="l"/>
            <a:r>
              <a:rPr lang="ru-RU" dirty="0" smtClean="0"/>
              <a:t>На ФИВБ, Мировых и Официальных Соревнованиях освещение игрового поля должно быть </a:t>
            </a:r>
            <a:r>
              <a:rPr lang="ru-RU" u="sng" dirty="0" smtClean="0"/>
              <a:t>не менее 2000 люкс</a:t>
            </a:r>
            <a:r>
              <a:rPr lang="ru-RU" dirty="0" smtClean="0"/>
              <a:t>, измеренное на высоте одного метра от поверхности игрового поля.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3356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560832" y="0"/>
            <a:ext cx="9144000" cy="1233107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ОФИЦИАЛЬНЫЕ ВОЛЕЙБОЛЬНЫЕ ПРАВИЛА 2021-2024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44424" y="1316038"/>
            <a:ext cx="9144000" cy="4856162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>СТРУКТУРА </a:t>
            </a:r>
          </a:p>
          <a:p>
            <a:pPr algn="l"/>
            <a:r>
              <a:rPr lang="ru-RU" dirty="0" smtClean="0"/>
              <a:t>Сетка шириной 1 метр </a:t>
            </a:r>
            <a:r>
              <a:rPr lang="ru-RU" u="sng" dirty="0" smtClean="0"/>
              <a:t>(+/- 3 см) </a:t>
            </a:r>
            <a:r>
              <a:rPr lang="ru-RU" dirty="0" smtClean="0"/>
              <a:t>и длиной 9,50-10 метров (с 25-50 см за боковыми лентами на каждой стороне) состоит из черных ячеек в форме квадрата со стороной 10 см. </a:t>
            </a:r>
          </a:p>
          <a:p>
            <a:pPr algn="l"/>
            <a:r>
              <a:rPr lang="ru-RU" dirty="0" smtClean="0"/>
              <a:t>Менеджер команды </a:t>
            </a:r>
            <a:r>
              <a:rPr lang="ru-RU" u="sng" dirty="0" smtClean="0"/>
              <a:t>и/или журналист </a:t>
            </a:r>
            <a:r>
              <a:rPr lang="ru-RU" dirty="0" smtClean="0"/>
              <a:t>команды не могут сидеть на скамейке или позади скамейки в контрольной зоне. </a:t>
            </a:r>
          </a:p>
          <a:p>
            <a:pPr algn="l"/>
            <a:r>
              <a:rPr lang="ru-RU" u="sng" dirty="0" smtClean="0"/>
              <a:t>Один из игроков является капитаном команды</a:t>
            </a:r>
            <a:r>
              <a:rPr lang="ru-RU" dirty="0" smtClean="0"/>
              <a:t>, который должен быть отмечен в протоколе.</a:t>
            </a:r>
          </a:p>
          <a:p>
            <a:pPr algn="l"/>
            <a:r>
              <a:rPr lang="ru-RU" dirty="0" smtClean="0"/>
              <a:t>Только членам состава команды разрешено </a:t>
            </a:r>
            <a:r>
              <a:rPr lang="ru-RU" u="sng" dirty="0" smtClean="0"/>
              <a:t>выходить на игровое поле</a:t>
            </a:r>
            <a:r>
              <a:rPr lang="ru-RU" dirty="0" smtClean="0"/>
              <a:t>, сидеть на скамейке во время матча и принимать участие в официальной разминке.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0195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542544" y="109727"/>
            <a:ext cx="9144000" cy="1287971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ОФИЦИАЛЬНЫЕ ВОЛЕЙБОЛЬНЫЕ ПРАВИЛА 2021-2024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5824" y="1626934"/>
            <a:ext cx="9144000" cy="5048186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>Не участвующие в игре игроки могут разминаться без мячей следующим образом: </a:t>
            </a:r>
            <a:r>
              <a:rPr lang="ru-RU" u="sng" dirty="0" smtClean="0"/>
              <a:t>во время тайм-аутов: </a:t>
            </a:r>
            <a:r>
              <a:rPr lang="ru-RU" dirty="0" smtClean="0"/>
              <a:t>в свободной зоне позади их игровой площадки.</a:t>
            </a:r>
          </a:p>
          <a:p>
            <a:pPr algn="l"/>
            <a:r>
              <a:rPr lang="ru-RU" dirty="0" smtClean="0"/>
              <a:t>ЗАПРЕЩЕННЫЕ ПРЕДМЕТЫ</a:t>
            </a:r>
          </a:p>
          <a:p>
            <a:pPr algn="l"/>
            <a:r>
              <a:rPr lang="ru-RU" dirty="0" smtClean="0"/>
              <a:t>На ФИВБ, Мировых и Официальных Соревнованиях для взрослых эти средства должны быть того же цвета, что и соответствующая часть формы. Черный, белый или нейтральные цвета также могут использоваться. Черный, белый или нейтральные цвета также могут использоваться при условии, что все использующие эти средства игроки носят один и тот же цвет.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8547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43840" y="1489774"/>
            <a:ext cx="9144000" cy="4426394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 smtClean="0"/>
              <a:t>РУКОВОДИТЕЛИ КОМАНДЫ</a:t>
            </a:r>
          </a:p>
          <a:p>
            <a:pPr algn="l"/>
            <a:r>
              <a:rPr lang="ru-RU" u="sng" dirty="0" smtClean="0"/>
              <a:t>Игроки Либеро могут быть и капитаном команды, и игровым капитаном.</a:t>
            </a:r>
          </a:p>
          <a:p>
            <a:pPr algn="l"/>
            <a:r>
              <a:rPr lang="ru-RU" dirty="0" smtClean="0"/>
              <a:t>КАПИТАН </a:t>
            </a:r>
          </a:p>
          <a:p>
            <a:pPr algn="l"/>
            <a:r>
              <a:rPr lang="ru-RU" dirty="0" smtClean="0"/>
              <a:t>ВО ВРЕМЯ МАТЧА капитан команды является игровым капитаном, если он на площадке. Когда капитан команды не находится на площадке, тренер или капитан команды должен </a:t>
            </a:r>
            <a:r>
              <a:rPr lang="ru-RU" u="sng" dirty="0" smtClean="0"/>
              <a:t>назначить другого игрока </a:t>
            </a:r>
            <a:r>
              <a:rPr lang="ru-RU" dirty="0" smtClean="0"/>
              <a:t>на площадке принять на себя роль игрового капитана. Этот игровой капитан сохраняет свои обязанности до своей замены, или возвращения капитана команды в игру, или до окончания партии.</a:t>
            </a:r>
          </a:p>
          <a:p>
            <a:pPr algn="l"/>
            <a:r>
              <a:rPr lang="ru-RU" dirty="0"/>
              <a:t>В</a:t>
            </a:r>
            <a:r>
              <a:rPr lang="ru-RU" dirty="0" smtClean="0"/>
              <a:t> отсутствие тренера, </a:t>
            </a:r>
            <a:r>
              <a:rPr lang="ru-RU" u="sng" dirty="0" smtClean="0"/>
              <a:t>если в команде нет помощника тренера, который принял на себя обязанности тренера</a:t>
            </a:r>
            <a:r>
              <a:rPr lang="ru-RU" dirty="0" smtClean="0"/>
              <a:t>, запрашивать тайм-ауты и замены.</a:t>
            </a:r>
            <a:endParaRPr lang="ru-RU" u="sng" dirty="0"/>
          </a:p>
        </p:txBody>
      </p:sp>
      <p:sp>
        <p:nvSpPr>
          <p:cNvPr id="4" name="Заголовок 1"/>
          <p:cNvSpPr>
            <a:spLocks noGrp="1"/>
          </p:cNvSpPr>
          <p:nvPr>
            <p:ph type="ctrTitle"/>
          </p:nvPr>
        </p:nvSpPr>
        <p:spPr>
          <a:xfrm>
            <a:off x="-542544" y="109727"/>
            <a:ext cx="9144000" cy="1287971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ОФИЦИАЛЬНЫЕ ВОЛЕЙБОЛЬНЫЕ ПРАВИЛА 2021-2024 </a:t>
            </a:r>
          </a:p>
        </p:txBody>
      </p:sp>
    </p:spTree>
    <p:extLst>
      <p:ext uri="{BB962C8B-B14F-4D97-AF65-F5344CB8AC3E}">
        <p14:creationId xmlns:p14="http://schemas.microsoft.com/office/powerpoint/2010/main" val="2573906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57072" y="2029968"/>
            <a:ext cx="9144000" cy="3163824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 smtClean="0"/>
              <a:t>ТРЕНЕР</a:t>
            </a:r>
          </a:p>
          <a:p>
            <a:pPr algn="l"/>
            <a:r>
              <a:rPr lang="ru-RU" dirty="0"/>
              <a:t>М</a:t>
            </a:r>
            <a:r>
              <a:rPr lang="ru-RU" dirty="0" smtClean="0"/>
              <a:t>ожет, как и другие члены команды, давать инструкции игрокам на площадке. Тренер может давать эти инструкции, стоя или двигаясь в пределах свободной зоны перед скамейкой своей команды от продолжения линии атаки до места разминки, </a:t>
            </a:r>
            <a:r>
              <a:rPr lang="ru-RU" u="sng" dirty="0" smtClean="0"/>
              <a:t>если оно расположено в углу контрольной зоны соревнования</a:t>
            </a:r>
            <a:r>
              <a:rPr lang="ru-RU" dirty="0" smtClean="0"/>
              <a:t>, не мешая и не задерживая матч. </a:t>
            </a:r>
            <a:r>
              <a:rPr lang="ru-RU" u="sng" dirty="0" smtClean="0"/>
              <a:t>Если место разминки расположено позади скамейки команды, в таком случае тренер может передвигаться от продолжения линии атаки до конца площадки своей команды, но не заслоняя обзор линейным.</a:t>
            </a:r>
            <a:endParaRPr lang="ru-RU" u="sng" dirty="0"/>
          </a:p>
        </p:txBody>
      </p:sp>
      <p:sp>
        <p:nvSpPr>
          <p:cNvPr id="4" name="Заголовок 1"/>
          <p:cNvSpPr>
            <a:spLocks noGrp="1"/>
          </p:cNvSpPr>
          <p:nvPr>
            <p:ph type="ctrTitle"/>
          </p:nvPr>
        </p:nvSpPr>
        <p:spPr>
          <a:xfrm>
            <a:off x="-542544" y="109727"/>
            <a:ext cx="9144000" cy="1287971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ОФИЦИАЛЬНЫЕ ВОЛЕЙБОЛЬНЫЕ ПРАВИЛА 2021-2024 </a:t>
            </a:r>
          </a:p>
        </p:txBody>
      </p:sp>
    </p:spTree>
    <p:extLst>
      <p:ext uri="{BB962C8B-B14F-4D97-AF65-F5344CB8AC3E}">
        <p14:creationId xmlns:p14="http://schemas.microsoft.com/office/powerpoint/2010/main" val="2504442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3256" y="1498918"/>
            <a:ext cx="9144000" cy="5057330"/>
          </a:xfrm>
        </p:spPr>
        <p:txBody>
          <a:bodyPr>
            <a:normAutofit fontScale="92500"/>
          </a:bodyPr>
          <a:lstStyle/>
          <a:p>
            <a:r>
              <a:rPr lang="ru-RU" dirty="0" smtClean="0"/>
              <a:t>ОФИЦИАЛЬНАЯ РАЗМИНКА</a:t>
            </a:r>
          </a:p>
          <a:p>
            <a:r>
              <a:rPr lang="ru-RU" u="sng" dirty="0" smtClean="0"/>
              <a:t>На ФИВБ, Мировых и Официальных Соревнованиях все игроки должны быть в игровой форме в течение всего Протокола и разминки. </a:t>
            </a:r>
          </a:p>
          <a:p>
            <a:r>
              <a:rPr lang="ru-RU" dirty="0" smtClean="0"/>
              <a:t>ПОЗИЦИИ</a:t>
            </a:r>
          </a:p>
          <a:p>
            <a:r>
              <a:rPr lang="ru-RU" dirty="0" smtClean="0"/>
              <a:t>Позиции игроков определяются и контролируются в соответствии с расположением их стоп, контактирующих с поверхностью </a:t>
            </a:r>
            <a:r>
              <a:rPr lang="ru-RU" u="sng" dirty="0" smtClean="0"/>
              <a:t>(последний контакт с полом определяет позицию игрока)</a:t>
            </a:r>
            <a:r>
              <a:rPr lang="ru-RU" dirty="0" smtClean="0"/>
              <a:t>, следующим образом: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u="sng" dirty="0" smtClean="0"/>
              <a:t>каждый игрок задней линии должен быть на одном уровне, или, по крайней мере, часть его одной стопы должна быть дальше от средней линии, чем передняя стопа соответствующего игрока передней линии;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u="sng" dirty="0" smtClean="0"/>
              <a:t>каждый правый (левый) боковой игрок должен быть на одном уровне, или, по крайней мере, часть его одной стопы должна быть ближе к правой (левой) боковой линии, чем стопы, находящиеся дальше от правой (левой) боковой линии, других игроков его линии. </a:t>
            </a:r>
            <a:endParaRPr lang="ru-RU" u="sng" dirty="0"/>
          </a:p>
        </p:txBody>
      </p:sp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-542544" y="109727"/>
            <a:ext cx="9144000" cy="1287971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ОФИЦИАЛЬНЫЕ ВОЛЕЙБОЛЬНЫЕ ПРАВИЛА 2021-2024 </a:t>
            </a:r>
          </a:p>
        </p:txBody>
      </p:sp>
    </p:spTree>
    <p:extLst>
      <p:ext uri="{BB962C8B-B14F-4D97-AF65-F5344CB8AC3E}">
        <p14:creationId xmlns:p14="http://schemas.microsoft.com/office/powerpoint/2010/main" val="2128325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62712" y="1223962"/>
            <a:ext cx="9144000" cy="3786949"/>
          </a:xfrm>
        </p:spPr>
        <p:txBody>
          <a:bodyPr>
            <a:normAutofit/>
          </a:bodyPr>
          <a:lstStyle/>
          <a:p>
            <a:r>
              <a:rPr lang="ru-RU" dirty="0" smtClean="0"/>
              <a:t>ИГРА С МЯЧОМ</a:t>
            </a:r>
          </a:p>
          <a:p>
            <a:r>
              <a:rPr lang="ru-RU" dirty="0" smtClean="0"/>
              <a:t>Мяч, тем не менее, может быть возвращен из-за пределов своей свободной </a:t>
            </a:r>
            <a:r>
              <a:rPr lang="ru-RU" u="sng" dirty="0" smtClean="0"/>
              <a:t>зоны и над столом секретаря на всей его протяжённости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ПРОНИКНОВЕНИЕ ПОД СЕТКОЙ </a:t>
            </a:r>
          </a:p>
          <a:p>
            <a:r>
              <a:rPr lang="ru-RU" dirty="0" smtClean="0"/>
              <a:t>разрешено касаться площадки соперника стопой (стопами) при условии, что какая-либо часть переносимой стопы (стоп) касается средней линии или находится непосредственно над ней </a:t>
            </a:r>
            <a:r>
              <a:rPr lang="ru-RU" u="sng" dirty="0" smtClean="0"/>
              <a:t>и это действие не мешает игре соперника;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ctrTitle"/>
          </p:nvPr>
        </p:nvSpPr>
        <p:spPr>
          <a:xfrm>
            <a:off x="-762000" y="0"/>
            <a:ext cx="9144000" cy="1223963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ОФИЦИАЛЬНЫЕ ВОЛЕЙБОЛЬНЫЕ ПРАВИЛА 2021-2024 </a:t>
            </a:r>
          </a:p>
        </p:txBody>
      </p:sp>
    </p:spTree>
    <p:extLst>
      <p:ext uri="{BB962C8B-B14F-4D97-AF65-F5344CB8AC3E}">
        <p14:creationId xmlns:p14="http://schemas.microsoft.com/office/powerpoint/2010/main" val="3850622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6408" y="1562926"/>
            <a:ext cx="9144000" cy="4051490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>ЗАСЛОН</a:t>
            </a:r>
          </a:p>
          <a:p>
            <a:pPr algn="l"/>
            <a:r>
              <a:rPr lang="ru-RU" dirty="0" smtClean="0"/>
              <a:t>Игроки подающей команды не должны индивидуальным или групповым заслоном мешать соперникам видеть </a:t>
            </a:r>
            <a:r>
              <a:rPr lang="ru-RU" u="sng" dirty="0" smtClean="0"/>
              <a:t>удар на подаче </a:t>
            </a:r>
            <a:r>
              <a:rPr lang="ru-RU" dirty="0" smtClean="0"/>
              <a:t>и траекторию полета мяча. </a:t>
            </a:r>
          </a:p>
          <a:p>
            <a:pPr algn="l"/>
            <a:r>
              <a:rPr lang="ru-RU" dirty="0" smtClean="0"/>
              <a:t>Игрок или группа игроков подающей команды ставят заслон, размахивая руками, прыгая или перемещаясь в боковом направлении во время выполнения подачи, или образуют группу, чтобы скрыть </a:t>
            </a:r>
            <a:r>
              <a:rPr lang="ru-RU" u="sng" dirty="0" smtClean="0"/>
              <a:t>и удар на подаче</a:t>
            </a:r>
            <a:r>
              <a:rPr lang="ru-RU" dirty="0" smtClean="0"/>
              <a:t>, и траекторию полета мяча до достижения мячом вертикальной плоскости сетки. </a:t>
            </a:r>
            <a:r>
              <a:rPr lang="ru-RU" u="sng" dirty="0" smtClean="0"/>
              <a:t>Если что-либо из этого видно принимающей команде, то это не является заслоном.</a:t>
            </a:r>
            <a:endParaRPr lang="ru-RU" u="sng" dirty="0"/>
          </a:p>
        </p:txBody>
      </p:sp>
      <p:sp>
        <p:nvSpPr>
          <p:cNvPr id="4" name="Заголовок 1"/>
          <p:cNvSpPr>
            <a:spLocks noGrp="1"/>
          </p:cNvSpPr>
          <p:nvPr>
            <p:ph type="ctrTitle"/>
          </p:nvPr>
        </p:nvSpPr>
        <p:spPr>
          <a:xfrm>
            <a:off x="-542544" y="109727"/>
            <a:ext cx="9144000" cy="1287971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ОФИЦИАЛЬНЫЕ ВОЛЕЙБОЛЬНЫЕ ПРАВИЛА 2021-2024 </a:t>
            </a:r>
          </a:p>
        </p:txBody>
      </p:sp>
    </p:spTree>
    <p:extLst>
      <p:ext uri="{BB962C8B-B14F-4D97-AF65-F5344CB8AC3E}">
        <p14:creationId xmlns:p14="http://schemas.microsoft.com/office/powerpoint/2010/main" val="1132977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5824" y="1453198"/>
            <a:ext cx="9144000" cy="524021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dirty="0" smtClean="0"/>
              <a:t>ПОСЛЕДОВАТЕЛЬНОСТЬ ОБЫЧНЫХ ИГРОВЫХ ПЕРЕРЫВОВ </a:t>
            </a:r>
          </a:p>
          <a:p>
            <a:pPr algn="l"/>
            <a:r>
              <a:rPr lang="ru-RU" u="sng" dirty="0" smtClean="0"/>
              <a:t>Не разрешено запрашивать любой обычный игровой перерыв после уже отклоненного запроса и предупреждения за задержку во время одного и того же перерыва (т.е., до окончания следующего состоявшегося розыгрыша).</a:t>
            </a:r>
          </a:p>
          <a:p>
            <a:pPr algn="l"/>
            <a:endParaRPr lang="ru-RU" u="sng" dirty="0"/>
          </a:p>
          <a:p>
            <a:pPr algn="l"/>
            <a:r>
              <a:rPr lang="ru-RU" dirty="0" smtClean="0"/>
              <a:t>ТАЙМ-АУТЫ</a:t>
            </a:r>
          </a:p>
          <a:p>
            <a:pPr algn="l"/>
            <a:r>
              <a:rPr lang="ru-RU" u="sng" dirty="0" smtClean="0"/>
              <a:t>На ФИВБ, Мировых и Официальных Соревнованиях продолжительность тайм-аутов может быть скорректирована, если ФИВБ одобряет такой запрос на основании просьбы Организатора. </a:t>
            </a:r>
          </a:p>
          <a:p>
            <a:pPr algn="l"/>
            <a:r>
              <a:rPr lang="ru-RU" dirty="0" smtClean="0"/>
              <a:t>ЗАМЕНА ПРИ УДАЛЕНИИ ИЛИ ДИСКВАЛИФИКАЦИИ</a:t>
            </a:r>
          </a:p>
          <a:p>
            <a:pPr algn="l"/>
            <a:r>
              <a:rPr lang="ru-RU" dirty="0" smtClean="0"/>
              <a:t>удаленный или дисквалифицированный игрок должен быть немедленно заменен по правилам замены. </a:t>
            </a:r>
            <a:r>
              <a:rPr lang="ru-RU" u="sng" dirty="0" smtClean="0"/>
              <a:t>Если это невозможно, команда имеет право сделать исключительную замену. </a:t>
            </a:r>
            <a:r>
              <a:rPr lang="ru-RU" dirty="0" smtClean="0"/>
              <a:t>Если и это невозможно, команда объявляется НЕПОЛНОЙ.</a:t>
            </a:r>
            <a:endParaRPr lang="ru-RU" u="sng" dirty="0"/>
          </a:p>
        </p:txBody>
      </p:sp>
      <p:sp>
        <p:nvSpPr>
          <p:cNvPr id="4" name="Заголовок 1"/>
          <p:cNvSpPr>
            <a:spLocks noGrp="1"/>
          </p:cNvSpPr>
          <p:nvPr>
            <p:ph type="ctrTitle"/>
          </p:nvPr>
        </p:nvSpPr>
        <p:spPr>
          <a:xfrm>
            <a:off x="-377952" y="-118873"/>
            <a:ext cx="9144000" cy="1470851"/>
          </a:xfrm>
        </p:spPr>
        <p:txBody>
          <a:bodyPr>
            <a:normAutofit/>
          </a:bodyPr>
          <a:lstStyle/>
          <a:p>
            <a:r>
              <a:rPr lang="ru-RU" sz="4400" dirty="0"/>
              <a:t>ОФИЦИАЛЬНЫЕ ВОЛЕЙБОЛЬНЫЕ ПРАВИЛА 2021-2024 </a:t>
            </a:r>
          </a:p>
        </p:txBody>
      </p:sp>
    </p:spTree>
    <p:extLst>
      <p:ext uri="{BB962C8B-B14F-4D97-AF65-F5344CB8AC3E}">
        <p14:creationId xmlns:p14="http://schemas.microsoft.com/office/powerpoint/2010/main" val="923382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038225" y="95250"/>
            <a:ext cx="9144000" cy="87153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Список источников: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09575" y="1401762"/>
            <a:ext cx="9144000" cy="477043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/>
              <a:t>ОФИЦИАЛЬНЫЕ ВОЛЕЙБОЛЬНЫЕ ПРАВИЛА 2017-2020 ОФИЦИАЛЬНЫЕ ВОЛЕЙБОЛЬНЫЕ ПРАВИЛА 2017-2020 1 Утверждены 35-м Конгрессом ФИВБ 2016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/>
              <a:t>ОФИЦИАЛЬНЫЕ ВОЛЕЙБОЛЬНЫЕ ПРАВИЛА 2021-2024 Вводятся в действие в России на всех соревнованиях, проводимых под эгидой ВФВ, начинающихся после 1 сентября 2021 года.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ТЕНДЕНЦИИ И </a:t>
            </a:r>
            <a:r>
              <a:rPr lang="ru-RU" dirty="0" smtClean="0"/>
              <a:t>ИННОВАЦИИ РАЗВИТИЯ СОВРЕМЕННОГО ВОЛЕЙБОЛА под </a:t>
            </a:r>
            <a:r>
              <a:rPr lang="ru-RU" dirty="0"/>
              <a:t>общей </a:t>
            </a:r>
            <a:r>
              <a:rPr lang="ru-RU" dirty="0" smtClean="0"/>
              <a:t>редакцией </a:t>
            </a:r>
            <a:r>
              <a:rPr lang="ru-RU" dirty="0" err="1" smtClean="0"/>
              <a:t>к.п.н</a:t>
            </a:r>
            <a:r>
              <a:rPr lang="ru-RU" dirty="0"/>
              <a:t>., доцента </a:t>
            </a:r>
            <a:r>
              <a:rPr lang="ru-RU" dirty="0" err="1"/>
              <a:t>Булыкиной</a:t>
            </a:r>
            <a:r>
              <a:rPr lang="ru-RU" dirty="0"/>
              <a:t> Л.В</a:t>
            </a:r>
            <a:r>
              <a:rPr lang="ru-RU" dirty="0" smtClean="0"/>
              <a:t>., </a:t>
            </a:r>
            <a:r>
              <a:rPr lang="ru-RU" dirty="0" err="1" smtClean="0"/>
              <a:t>д.п.н</a:t>
            </a:r>
            <a:r>
              <a:rPr lang="ru-RU" dirty="0"/>
              <a:t>., </a:t>
            </a:r>
            <a:r>
              <a:rPr lang="ru-RU" dirty="0" smtClean="0"/>
              <a:t>профессора </a:t>
            </a:r>
            <a:r>
              <a:rPr lang="ru-RU" dirty="0"/>
              <a:t>Губы В.П.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54567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1244</Words>
  <Application>Microsoft Office PowerPoint</Application>
  <PresentationFormat>Широкоэкранный</PresentationFormat>
  <Paragraphs>92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Элективные дисциплины по физической культуре и спорту</vt:lpstr>
      <vt:lpstr>Содержание:</vt:lpstr>
      <vt:lpstr>О волейболе</vt:lpstr>
      <vt:lpstr>ОФИЦИАЛЬНЫЕ ВОЛЕЙБОЛЬНЫЕ ПРАВИЛА 2017-2020</vt:lpstr>
      <vt:lpstr>ОФИЦИАЛЬНЫЕ ВОЛЕЙБОЛЬНЫЕ ПРАВИЛА 2021-2024 </vt:lpstr>
      <vt:lpstr>ОФИЦИАЛЬНЫЕ ВОЛЕЙБОЛЬНЫЕ ПРАВИЛА 2021-2024 </vt:lpstr>
      <vt:lpstr>ОФИЦИАЛЬНЫЕ ВОЛЕЙБОЛЬНЫЕ ПРАВИЛА 2021-2024 </vt:lpstr>
      <vt:lpstr>ОФИЦИАЛЬНЫЕ ВОЛЕЙБОЛЬНЫЕ ПРАВИЛА 2021-2024 </vt:lpstr>
      <vt:lpstr>ОФИЦИАЛЬНЫЕ ВОЛЕЙБОЛЬНЫЕ ПРАВИЛА 2021-2024 </vt:lpstr>
      <vt:lpstr>ОФИЦИАЛЬНЫЕ ВОЛЕЙБОЛЬНЫЕ ПРАВИЛА 2021-2024 </vt:lpstr>
      <vt:lpstr>ОФИЦИАЛЬНЫЕ ВОЛЕЙБОЛЬНЫЕ ПРАВИЛА 2021-2024 </vt:lpstr>
      <vt:lpstr>ОФИЦИАЛЬНЫЕ ВОЛЕЙБОЛЬНЫЕ ПРАВИЛА 2021-2024 </vt:lpstr>
      <vt:lpstr>ОФИЦИАЛЬНЫЕ ВОЛЕЙБОЛЬНЫЕ ПРАВИЛА 2021-2024 </vt:lpstr>
      <vt:lpstr>Список источников: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Элективные дисциплины по физической культуре и спорту</dc:title>
  <dc:creator>Кристина Каменева</dc:creator>
  <cp:lastModifiedBy>Кристина Каменева</cp:lastModifiedBy>
  <cp:revision>6</cp:revision>
  <dcterms:created xsi:type="dcterms:W3CDTF">2021-09-17T06:54:26Z</dcterms:created>
  <dcterms:modified xsi:type="dcterms:W3CDTF">2021-09-17T07:43:33Z</dcterms:modified>
</cp:coreProperties>
</file>